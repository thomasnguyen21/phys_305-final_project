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505CAA-4160-4A66-96CE-AF77A0AFBEE4}" type="datetimeFigureOut">
              <a:rPr lang="en-US" smtClean="0"/>
              <a:t>03/12/2025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7679F-10CC-4D13-994A-487956796B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51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5BB791-D0B8-4BCA-ABD7-8E51399060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49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30BA-8EED-028C-C505-9AB49315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DEE-3A82-79B7-35F6-D4D7C9DF6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6AB72-1BCF-C371-8844-890B18103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1745B-E8B8-05ED-2921-32D90815E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</a:lstStyle>
          <a:p>
            <a:r>
              <a:rPr lang="en-US"/>
              <a:t>Fall 2025 Steward Science Symposium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4FD528-FE51-A65F-9505-C8CB393AF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>
                <a:solidFill>
                  <a:schemeClr val="bg1"/>
                </a:solidFill>
              </a:defRPr>
            </a:lvl1pPr>
          </a:lstStyle>
          <a:p>
            <a:fld id="{56AFD512-757E-4622-B8E4-29A7BB45ABF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7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37FEB6-03C9-E994-D99C-22F463F97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500"/>
            </a:lvl1pPr>
          </a:lstStyle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F51E6D-992C-5D36-868E-EE6BEAA2E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500"/>
            </a:lvl1pPr>
          </a:lstStyle>
          <a:p>
            <a:r>
              <a:rPr lang="en-US"/>
              <a:t>Fall 2025 Steward Science Symposium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70F5F-F1F3-EBE1-6615-23BD504C0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500"/>
            </a:lvl1pPr>
          </a:lstStyle>
          <a:p>
            <a:fld id="{56AFD512-757E-4622-B8E4-29A7BB45ABF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234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7782D-BAD4-8E15-CF2A-BED4021D2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B0BD2-A59C-29B7-7EE6-10D455A56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70288-9FED-22B9-522C-93FA322FA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31F47-60BA-9F3F-FA6D-601434FF5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Fall 2025 Steward Science Symposium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F9636-B953-37A9-BAA6-B6A368F91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D512-757E-4622-B8E4-29A7BB45A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05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AB405F-6E13-B57E-5662-229F5925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DECA9A-117D-AD2F-F8E5-A77774FC0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868E9-D231-CDC0-4615-8358733968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7FD15-2EBD-C913-15B8-B1FA29BB10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Fall 2025 Steward Science Symposium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E2719-ABFC-0134-7CD1-244BD1767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AFD512-757E-4622-B8E4-29A7BB45AB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233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5" r:id="rId2"/>
    <p:sldLayoutId id="2147483649" r:id="rId3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Rectangle 1035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0F03BA-551B-E3A5-8E00-903CAF2AF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223" y="1197766"/>
            <a:ext cx="4398717" cy="2387600"/>
          </a:xfrm>
        </p:spPr>
        <p:txBody>
          <a:bodyPr>
            <a:normAutofit/>
          </a:bodyPr>
          <a:lstStyle/>
          <a:p>
            <a:r>
              <a:rPr lang="en-US" sz="3000" b="1" dirty="0">
                <a:solidFill>
                  <a:schemeClr val="bg1">
                    <a:lumMod val="95000"/>
                  </a:schemeClr>
                </a:solidFill>
              </a:rPr>
              <a:t>The Brachistochrone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83F0C-B384-16DD-338C-FC43BE488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727" y="3794918"/>
            <a:ext cx="4073710" cy="1655762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Thomas Nguyen</a:t>
            </a:r>
            <a:r>
              <a:rPr lang="en-US" sz="1800" baseline="30000" dirty="0">
                <a:solidFill>
                  <a:schemeClr val="bg1">
                    <a:lumMod val="95000"/>
                  </a:schemeClr>
                </a:solidFill>
              </a:rPr>
              <a:t>1</a:t>
            </a:r>
            <a:endParaRPr lang="en-US" sz="1800" dirty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sz="1800" baseline="30000" dirty="0">
                <a:solidFill>
                  <a:schemeClr val="bg1">
                    <a:lumMod val="95000"/>
                  </a:schemeClr>
                </a:solidFill>
              </a:rPr>
              <a:t>1</a:t>
            </a:r>
            <a:r>
              <a:rPr lang="en-US" sz="1800" dirty="0">
                <a:solidFill>
                  <a:schemeClr val="bg1">
                    <a:lumMod val="95000"/>
                  </a:schemeClr>
                </a:solidFill>
              </a:rPr>
              <a:t>Departments of Physics &amp; Astronomy, The University of Arizona, Tucson, AZ</a:t>
            </a:r>
            <a:endParaRPr lang="en-US" sz="1800" baseline="300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" name="Picture 8" descr="Solving The Brachistochrone Problem in Construction">
            <a:extLst>
              <a:ext uri="{FF2B5EF4-FFF2-40B4-BE49-F238E27FC236}">
                <a16:creationId xmlns:a16="http://schemas.microsoft.com/office/drawing/2014/main" id="{D6FE72E5-8EED-2FF5-D3E9-74AED5F54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14702" y="1197768"/>
            <a:ext cx="6568075" cy="4462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8" name="Rectangle 1037">
            <a:extLst>
              <a:ext uri="{FF2B5EF4-FFF2-40B4-BE49-F238E27FC236}">
                <a16:creationId xmlns:a16="http://schemas.microsoft.com/office/drawing/2014/main" id="{D84C2E9E-0B5D-4B5F-9A1F-70EBDCE39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977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F3F3A-183F-14CB-3DBA-9C5E6699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chemeClr val="bg1">
                    <a:lumMod val="65000"/>
                  </a:schemeClr>
                </a:solidFill>
              </a:rPr>
              <a:t>PHYS 305 Fall 2025 Final Project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F9517AFF-3E44-AAE7-2909-DAE6878EA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6AFD512-757E-4622-B8E4-29A7BB45ABF6}" type="slidenum">
              <a:rPr lang="en-US" sz="1500">
                <a:solidFill>
                  <a:schemeClr val="bg1">
                    <a:lumMod val="65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 sz="150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4628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8DD67-8CB3-4950-8931-EC6B1ADC8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91D06CC-10E8-0B1A-7667-DAC185B2D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PHYS 305 Fall 2025 Final Project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3E773A-29CE-1A96-E43E-7D8BE6E1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D512-757E-4622-B8E4-29A7BB45ABF6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2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423EBFF-BE2E-F135-3090-40E02556D490}"/>
              </a:ext>
            </a:extLst>
          </p:cNvPr>
          <p:cNvSpPr txBox="1">
            <a:spLocks/>
          </p:cNvSpPr>
          <p:nvPr/>
        </p:nvSpPr>
        <p:spPr>
          <a:xfrm>
            <a:off x="205383" y="136525"/>
            <a:ext cx="5001329" cy="8881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chemeClr val="bg1">
                    <a:lumMod val="95000"/>
                  </a:schemeClr>
                </a:solidFill>
              </a:rPr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41B117-3D6E-F18A-78D2-FC30598A4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5383" y="1574154"/>
            <a:ext cx="5001329" cy="4230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938352-7C4E-107C-EE5B-87F153CEABDD}"/>
                  </a:ext>
                </a:extLst>
              </p:cNvPr>
              <p:cNvSpPr txBox="1"/>
              <p:nvPr/>
            </p:nvSpPr>
            <p:spPr>
              <a:xfrm>
                <a:off x="5289630" y="136525"/>
                <a:ext cx="6902369" cy="6312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  <a:cs typeface="Times New Roman" panose="02020603050405020304" pitchFamily="18" charset="0"/>
                  </a:rPr>
                  <a:t>Conservation of Energy: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sSup>
                      <m:sSup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p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𝑚𝑔𝑧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𝑣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𝑔𝑧</m:t>
                        </m:r>
                      </m:e>
                    </m:rad>
                  </m:oMath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  <a:cs typeface="Times New Roman" panose="02020603050405020304" pitchFamily="18" charset="0"/>
                  </a:rPr>
                  <a:t>Time to travel the distance ds: d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𝑑𝑠</m:t>
                        </m:r>
                      </m:num>
                      <m:den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den>
                    </m:f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sSup>
                              <m:sSup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den>
                    </m:f>
                  </m:oMath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  <a:cs typeface="Times New Roman" panose="02020603050405020304" pitchFamily="18" charset="0"/>
                </a:endParaRPr>
              </a:p>
              <a:p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  <a:cs typeface="Times New Roman" panose="02020603050405020304" pitchFamily="18" charset="0"/>
                  </a:rPr>
                  <a:t>→ Total time to travel from A to B: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p>
                        <m:e>
                          <m:f>
                            <m:f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𝑑𝑠</m:t>
                              </m:r>
                            </m:num>
                            <m:den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den>
                          </m:f>
                        </m:e>
                      </m:nary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sub>
                        <m:sup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sup>
                        <m:e>
                          <m:f>
                            <m:f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sSup>
                                    <m:sSup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  <m:sSup>
                                    <m:sSup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𝑔𝑧</m:t>
                                  </m:r>
                                </m:e>
                              </m:rad>
                            </m:den>
                          </m:f>
                        </m:e>
                      </m:nary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brk m:alnAt="24"/>
                                </m:r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brk m:alnAt="24"/>
                                </m:r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1+</m:t>
                                  </m:r>
                                  <m:sSup>
                                    <m:sSup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𝑔𝑧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  <a:cs typeface="Times New Roman" panose="02020603050405020304" pitchFamily="18" charset="0"/>
                </a:endParaRPr>
              </a:p>
              <a:p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p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</m:num>
                      <m:den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  <a:cs typeface="Times New Roman" panose="02020603050405020304" pitchFamily="18" charset="0"/>
                  </a:rPr>
                  <a:t> and the Lagrangian L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1+</m:t>
                            </m:r>
                            <m:sSup>
                              <m:sSup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′2</m:t>
                                </m:r>
                              </m:sup>
                            </m:sSup>
                          </m:e>
                        </m:rad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𝑧</m:t>
                            </m:r>
                          </m:e>
                        </m:rad>
                      </m:den>
                    </m:f>
                  </m:oMath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  <a:cs typeface="Times New Roman" panose="02020603050405020304" pitchFamily="18" charset="0"/>
                  </a:rPr>
                  <a:t>Euler-Lagrange equation: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𝜕</m:t>
                        </m:r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den>
                    </m:f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num>
                      <m:den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den>
                    </m:f>
                    <m:d>
                      <m:d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→−</m:t>
                      </m:r>
                      <m:f>
                        <m:f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  <m:sSup>
                                    <m:sSup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p>
                                  </m:sSup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p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′2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f>
                                    <m:f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−2</m:t>
                          </m:r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𝑧𝑧</m:t>
                          </m:r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′′−</m:t>
                          </m:r>
                          <m:sSup>
                            <m:sSup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′2</m:t>
                              </m:r>
                            </m:sup>
                          </m:sSup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′2</m:t>
                                      </m:r>
                                    </m:sup>
                                  </m:sSup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+1</m:t>
                                  </m:r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sSup>
                            <m:sSup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′′</m:t>
                              </m:r>
                            </m:sup>
                          </m:sSup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num>
                            <m:den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</m:t>
                              </m:r>
                              <m:sSup>
                                <m:sSup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′2</m:t>
                                  </m:r>
                                </m:sup>
                              </m:sSup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+1</m:t>
                              </m:r>
                            </m:num>
                            <m:den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eqArr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  <a:cs typeface="Times New Roman" panose="02020603050405020304" pitchFamily="18" charset="0"/>
                  </a:rPr>
                  <a:t>Beltrami’s identity (L does not depend on x):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den>
                      </m:f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den>
                          </m:f>
                        </m:e>
                      </m:d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=0→</m:t>
                      </m:r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′</m:t>
                          </m:r>
                        </m:sup>
                      </m:sSup>
                      <m:f>
                        <m:f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</m:den>
                      </m:f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𝐶</m:t>
                      </m:r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𝑐𝑜𝑛𝑠𝑡</m:t>
                      </m:r>
                    </m:oMath>
                  </m:oMathPara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eqArrPr>
                        <m:e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d>
                                    <m:d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1+</m:t>
                                      </m:r>
                                      <m:sSup>
                                        <m:sSupPr>
                                          <m:ctrlP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p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′2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</m:rad>
                            </m:den>
                          </m:f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US" sz="1900" b="0" dirty="0">
                  <a:solidFill>
                    <a:schemeClr val="bg1">
                      <a:lumMod val="85000"/>
                    </a:schemeClr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8938352-7C4E-107C-EE5B-87F153CEA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630" y="136525"/>
                <a:ext cx="6902369" cy="6312113"/>
              </a:xfrm>
              <a:prstGeom prst="rect">
                <a:avLst/>
              </a:prstGeom>
              <a:blipFill>
                <a:blip r:embed="rId3"/>
                <a:stretch>
                  <a:fillRect l="-8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176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FD15D-E335-6F4F-4018-0B6A5C757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FA3E21B-210E-8C36-3D11-912037C01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PHYS 305 Fall 2025 Final Project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E0D9B2-ADA8-15C1-F9C7-4DDB4B1A3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D512-757E-4622-B8E4-29A7BB45ABF6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3</a:t>
            </a:fld>
            <a:endParaRPr lang="en-US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B0F0B2-DFEC-D57F-4B4D-8495AECEED64}"/>
              </a:ext>
            </a:extLst>
          </p:cNvPr>
          <p:cNvSpPr txBox="1">
            <a:spLocks/>
          </p:cNvSpPr>
          <p:nvPr/>
        </p:nvSpPr>
        <p:spPr>
          <a:xfrm>
            <a:off x="205382" y="15014"/>
            <a:ext cx="5001329" cy="88813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solidFill>
                  <a:schemeClr val="bg1">
                    <a:lumMod val="95000"/>
                  </a:schemeClr>
                </a:solidFill>
              </a:rPr>
              <a:t>Methodology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502880-8764-FE20-1EB2-B7BC0B51C72F}"/>
                  </a:ext>
                </a:extLst>
              </p:cNvPr>
              <p:cNvSpPr txBox="1"/>
              <p:nvPr/>
            </p:nvSpPr>
            <p:spPr>
              <a:xfrm>
                <a:off x="205382" y="903149"/>
                <a:ext cx="11781236" cy="5421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′(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  <a:cs typeface="Times New Roman" panose="02020603050405020304" pitchFamily="18" charset="0"/>
                  </a:rPr>
                  <a:t>→ Eqn. 1 becomes</a:t>
                </a:r>
                <a:endParaRPr lang="en-US" sz="19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d>
                            <m:dPr>
                              <m:begChr m:val="{"/>
                              <m:endChr m:val=""/>
                              <m:ctrlPr>
                                <a:rPr lang="en-US" sz="190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eqArr>
                                <m:eqArrPr>
                                  <m:ctrlPr>
                                    <a:rPr lang="en-US" sz="190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f>
                                    <m:f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num>
                                    <m:den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b>
                                    <m:sSub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  <m:sub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e>
                                  <m:f>
                                    <m:f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num>
                                    <m:den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𝑑𝑥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sSup>
                                    <m:sSup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′′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=−</m:t>
                                  </m:r>
                                  <m:f>
                                    <m:f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𝑧</m:t>
                                          </m:r>
                                        </m:e>
                                        <m:sup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′2</m:t>
                                          </m:r>
                                        </m:sup>
                                      </m:sSup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num>
                                    <m:den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den>
                                  </m:f>
                                </m:e>
                              </m:eqArr>
                            </m:e>
                          </m:d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#</m:t>
                          </m:r>
                          <m:d>
                            <m:d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eqArr>
                    </m:oMath>
                  </m:oMathPara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</a:rPr>
                  <a:t>Initial conditions: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d>
                      <m:d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</a:rPr>
                  <a:t> (given),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sSub>
                      <m:sSub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</a:rPr>
                  <a:t> (?)</a:t>
                </a:r>
              </a:p>
              <a:p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</a:rPr>
                  <a:t>Use shooting method to find the (approximated) initial derivative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num>
                      <m:den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sSub>
                      <m:sSub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</m:d>
                      </m:e>
                      <m:sub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𝑛𝑢𝑚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𝑒𝑥𝑎𝑐𝑡</m:t>
                                </m:r>
                              </m:sub>
                            </m:sSub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(1)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𝑒𝑥𝑎𝑐𝑡</m:t>
                                </m:r>
                              </m:sub>
                            </m:sSub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(1)</m:t>
                            </m:r>
                          </m:den>
                        </m:f>
                      </m:e>
                    </m:d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  <a:cs typeface="Times New Roman" panose="02020603050405020304" pitchFamily="18" charset="0"/>
                  </a:rPr>
                  <a:t>→ Implement </a:t>
                </a:r>
                <a:r>
                  <a:rPr lang="en-US" sz="1900" u="sng" dirty="0">
                    <a:solidFill>
                      <a:schemeClr val="bg1">
                        <a:lumMod val="85000"/>
                      </a:schemeClr>
                    </a:solidFill>
                    <a:cs typeface="Times New Roman" panose="02020603050405020304" pitchFamily="18" charset="0"/>
                  </a:rPr>
                  <a:t>RK4</a:t>
                </a:r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  <a:cs typeface="Times New Roman" panose="02020603050405020304" pitchFamily="18" charset="0"/>
                  </a:rPr>
                  <a:t> to integrate (3)! </a:t>
                </a:r>
                <a:endParaRPr lang="en-US" sz="19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</a:rPr>
                  <a:t>Convergence of C (Eqn. 2) at x=1: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d>
                              <m:d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(0)</m:t>
                            </m:r>
                          </m:num>
                          <m:den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(0)</m:t>
                            </m:r>
                          </m:den>
                        </m:f>
                      </m:e>
                    </m:d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</a:rPr>
                  <a:t>Self-convergence of </a:t>
                </a:r>
                <a14:m>
                  <m:oMath xmlns:m="http://schemas.openxmlformats.org/officeDocument/2006/math"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9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𝑛𝑢𝑚</m:t>
                        </m:r>
                      </m:sub>
                    </m:sSub>
                    <m:d>
                      <m:dPr>
                        <m:ctrlPr>
                          <a:rPr lang="en-US" sz="19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</m:d>
                    <m:r>
                      <a:rPr lang="en-US" sz="1900" b="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19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𝑒𝑥𝑎𝑐𝑡</m:t>
                        </m:r>
                      </m:sub>
                    </m:sSub>
                    <m:r>
                      <a:rPr lang="en-US" sz="1900" b="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900" b="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900" b="0" i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19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US" sz="1900" b="0" i="1" dirty="0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𝑛𝑢𝑚</m:t>
                            </m:r>
                          </m:sub>
                        </m:sSub>
                        <m:d>
                          <m:d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</m:d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𝑛𝑢𝑚</m:t>
                            </m:r>
                          </m:sub>
                        </m:sSub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𝑛𝑢𝑚</m:t>
                            </m:r>
                          </m:sub>
                        </m:sSub>
                        <m:d>
                          <m:d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𝑛𝑢𝑚</m:t>
                            </m:r>
                          </m:sub>
                        </m:sSub>
                        <m:d>
                          <m:d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den>
                    </m:f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p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  <m:sup>
                                <m:r>
                                  <a:rPr lang="en-US" sz="1900" b="0" i="1" smtClean="0">
                                    <a:solidFill>
                                      <a:schemeClr val="bg1">
                                        <a:lumMod val="8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bSup>
                          </m:e>
                        </m:d>
                      </m:num>
                      <m:den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p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US" sz="1900" b="0" i="1" smtClean="0">
                                <a:solidFill>
                                  <a:schemeClr val="bg1">
                                    <a:lumMod val="8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bSup>
                      </m:den>
                    </m:f>
                  </m:oMath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</a:endParaRPr>
              </a:p>
              <a:p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900" b="0" i="1" smtClean="0">
                        <a:solidFill>
                          <a:schemeClr val="bg1">
                            <a:lumMod val="85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900" b="0" i="1" smtClean="0">
                            <a:solidFill>
                              <a:schemeClr val="bg1">
                                <a:lumMod val="8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900" dirty="0">
                    <a:solidFill>
                      <a:schemeClr val="bg1">
                        <a:lumMod val="85000"/>
                      </a:schemeClr>
                    </a:solidFill>
                  </a:rPr>
                  <a:t>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𝑛𝑢𝑚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</m:d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𝑛𝑢𝑚</m:t>
                              </m:r>
                            </m:sub>
                          </m:sSub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𝑛𝑢𝑚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𝑛𝑢𝑚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sz="1900" b="0" i="1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900" b="0" i="1" smtClean="0">
                                      <a:solidFill>
                                        <a:schemeClr val="bg1">
                                          <a:lumMod val="8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900" b="0" i="1" smtClean="0">
                                          <a:solidFill>
                                            <a:schemeClr val="bg1">
                                              <a:lumMod val="8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e>
                                        <m:sub>
                                          <m:r>
                                            <a:rPr lang="en-US" sz="1900" b="0" i="1" smtClean="0">
                                              <a:solidFill>
                                                <a:schemeClr val="bg1">
                                                  <a:lumMod val="8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sSup>
                            <m:sSupPr>
                              <m:ctrlP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900" b="0" i="1" smtClean="0">
                                  <a:solidFill>
                                    <a:schemeClr val="bg1">
                                      <a:lumMod val="8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1900" b="0" i="1" smtClean="0">
                              <a:solidFill>
                                <a:schemeClr val="bg1">
                                  <a:lumMod val="8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en-US" sz="1900" dirty="0">
                  <a:solidFill>
                    <a:schemeClr val="bg1">
                      <a:lumMod val="85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4502880-8764-FE20-1EB2-B7BC0B51C7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82" y="903149"/>
                <a:ext cx="11781236" cy="5421933"/>
              </a:xfrm>
              <a:prstGeom prst="rect">
                <a:avLst/>
              </a:prstGeom>
              <a:blipFill>
                <a:blip r:embed="rId2"/>
                <a:stretch>
                  <a:fillRect l="-518" t="-5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0506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AAC25-A064-4A07-654D-64F1F4576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AB7EAD-C66F-72B3-1E95-5CDBB73C0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PHYS 305 Fall 2025 Final Project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0A8EF-0343-4625-9CD6-F8387F6E8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D512-757E-4622-B8E4-29A7BB45ABF6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4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3DBA779-0EC8-250C-1DDC-76DE45D644E5}"/>
              </a:ext>
            </a:extLst>
          </p:cNvPr>
          <p:cNvSpPr txBox="1">
            <a:spLocks/>
          </p:cNvSpPr>
          <p:nvPr/>
        </p:nvSpPr>
        <p:spPr>
          <a:xfrm>
            <a:off x="956113" y="136525"/>
            <a:ext cx="10279771" cy="7169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</a:rPr>
              <a:t>(Preliminary) Results</a:t>
            </a:r>
          </a:p>
        </p:txBody>
      </p:sp>
      <p:pic>
        <p:nvPicPr>
          <p:cNvPr id="6" name="Picture 5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18BF3C80-0FCD-3294-5829-A64EE2C198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355" y="1013989"/>
            <a:ext cx="6477285" cy="51818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7FACBAA-2B2C-7189-1C50-F5BF608367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754" y="1426263"/>
            <a:ext cx="5522184" cy="44177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DD7017-E93E-D17A-2FFA-3924AC5A5F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12064" y="1408519"/>
            <a:ext cx="5544365" cy="4435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77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C2A2B-EE7C-C90F-5F28-86B42103A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86A5900-528E-9372-C6B1-87BAF0AA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PHYS 305 Fall 2025 Final Project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921E79-AE87-150E-C4AC-342FC03CB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D512-757E-4622-B8E4-29A7BB45ABF6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5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973D9E5-4674-675F-BF63-A1896F3CF6ED}"/>
              </a:ext>
            </a:extLst>
          </p:cNvPr>
          <p:cNvSpPr txBox="1">
            <a:spLocks/>
          </p:cNvSpPr>
          <p:nvPr/>
        </p:nvSpPr>
        <p:spPr>
          <a:xfrm>
            <a:off x="956113" y="136525"/>
            <a:ext cx="10279771" cy="7169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 dirty="0">
                <a:solidFill>
                  <a:schemeClr val="bg1">
                    <a:lumMod val="95000"/>
                  </a:schemeClr>
                </a:solidFill>
              </a:rPr>
              <a:t>(Preliminary) Results</a:t>
            </a:r>
          </a:p>
        </p:txBody>
      </p:sp>
      <p:pic>
        <p:nvPicPr>
          <p:cNvPr id="7" name="Picture 6" descr="A graph with a red line&#10;&#10;AI-generated content may be incorrect.">
            <a:extLst>
              <a:ext uri="{FF2B5EF4-FFF2-40B4-BE49-F238E27FC236}">
                <a16:creationId xmlns:a16="http://schemas.microsoft.com/office/drawing/2014/main" id="{7680CE14-CCA8-939F-8669-3FCE45A7A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326" y="944366"/>
            <a:ext cx="6651343" cy="532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978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2D9D4-3C02-E9D7-1750-9CD42E311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A83FFE-BBED-BAFF-A3A9-558C264CD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olidFill>
                  <a:schemeClr val="bg1">
                    <a:lumMod val="65000"/>
                  </a:schemeClr>
                </a:solidFill>
              </a:rPr>
              <a:t>PHYS 305 Fall 2025 Final Project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195639-E058-6123-779F-3D489941F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FD512-757E-4622-B8E4-29A7BB45ABF6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6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2142D28-4C98-F9A6-3F91-3452D20C511F}"/>
              </a:ext>
            </a:extLst>
          </p:cNvPr>
          <p:cNvSpPr txBox="1">
            <a:spLocks/>
          </p:cNvSpPr>
          <p:nvPr/>
        </p:nvSpPr>
        <p:spPr>
          <a:xfrm>
            <a:off x="956113" y="136525"/>
            <a:ext cx="10279771" cy="7169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000" b="1">
                <a:solidFill>
                  <a:schemeClr val="bg1">
                    <a:lumMod val="95000"/>
                  </a:schemeClr>
                </a:solidFill>
              </a:rPr>
              <a:t>(Preliminary) Results</a:t>
            </a:r>
            <a:endParaRPr lang="en-US" sz="3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EA6362-11CB-F187-6929-944833248B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0326" y="944366"/>
            <a:ext cx="6651342" cy="5321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7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283</Words>
  <Application>Microsoft Office PowerPoint</Application>
  <PresentationFormat>Widescreen</PresentationFormat>
  <Paragraphs>42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Times New Roman</vt:lpstr>
      <vt:lpstr>Office Theme</vt:lpstr>
      <vt:lpstr>The Brachistochrone Problem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Thomas Hoang - (phuocnh21)</dc:creator>
  <cp:lastModifiedBy>Nguyen, Thomas Hoang - (phuocnh21)</cp:lastModifiedBy>
  <cp:revision>2</cp:revision>
  <dcterms:created xsi:type="dcterms:W3CDTF">2025-12-03T03:04:29Z</dcterms:created>
  <dcterms:modified xsi:type="dcterms:W3CDTF">2025-12-03T16:39:56Z</dcterms:modified>
</cp:coreProperties>
</file>